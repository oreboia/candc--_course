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7955280" y="1371600"/>
            <a:ext cx="2926080" cy="2926080"/>
          </a:xfrm>
          <a:prstGeom prst="roundRect">
            <a:avLst>
              <a:gd name="adj" fmla="val 10938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8686800" y="2194560"/>
            <a:ext cx="2743200" cy="2743200"/>
          </a:xfrm>
          <a:prstGeom prst="roundRect">
            <a:avLst>
              <a:gd name="adj" fmla="val 11667"/>
            </a:avLst>
          </a:prstGeom>
          <a:solidFill>
            <a:srgbClr val="8E44AD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183880" y="17830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869680" y="29260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e C++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per Principianti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ore · 4 giorni · C e C++ studiati in parallelo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didattico · teoria, esempi di codice ed esercizi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del corso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ore su 4 giorni · ogni giorno 2h di C + 2h di C++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297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47365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C (2h)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C++ (2h)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Fondamenti: tipi, variabili, I/O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Fondamenti: iostream, namespace, tipi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 di flusso, funzioni, array, stringhe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Funzioni avanzate, std::string, std::vector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Puntatori, gestione memoria, struct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Programmazione a oggetti, classi, RAII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I/O, preprocessore, progetti multi-file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STL, template, ereditarietà, Objective-C/C++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212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 C++ vengono insegnati in parallelo, così somiglianze e differenze restano sempre visibili.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del corso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272888" cy="4023360"/>
          </a:xfrm>
          <a:prstGeom prst="roundRect">
            <a:avLst>
              <a:gd name="adj" fmla="val 18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teorico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242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cosa sono C e C++ e la loro storia.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Comprendere il modello di compilazione.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 le differenze sostanziali tra i due linguaggi.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Conoscere i rispettivi casi d'uso reali.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371600"/>
            <a:ext cx="5272888" cy="4023360"/>
          </a:xfrm>
          <a:prstGeom prst="roundRect">
            <a:avLst>
              <a:gd name="adj" fmla="val 181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98768" y="164592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pratico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98768" y="2240280"/>
            <a:ext cx="47242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Scrivere, compilare ed eseguire programmi in entrambi i linguaggi.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Arrivare alle basi della programmazione a oggetti in C++.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Vedere un'introduzione di base a Objective-C e Objective-C++.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9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Fondamenti del linguaggio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Tipi, variabili, input/output — il punto di partenza in C e C++.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il C e cos'è il C++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1972, Dennis Ritchie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1983, Bjarne Stroustrup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per riscrivere il sistema operativo UNIX.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 e procedurale.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basso livello: vicino all'hardware (memoria, puntatori).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Portabile: lo stesso codice compila su sistemi diversi.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Oggi: OS, microcontrollori, driver, firmware, librerie.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come "C con le classi".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 la programmazione a oggetti al C…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…mantenendo prestazioni e compatibilità.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Multi-paradigma: procedurale, OOP, generico.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Type-safe, con una ricca libreria standard (STL).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di compilazione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codice sorgente all'eseguibile — passaggi nascosti dietro un solo comando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38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 (.c)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espande #include e #define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18288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88920" y="2971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86"/>
                </a:solidFill>
              </a:rPr>
              <a:t>preprocessore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938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preprocessato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in file oggetto (.o)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60720" y="2971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86"/>
                </a:solidFill>
              </a:rPr>
              <a:t>compilatore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938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oggetto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le librerie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06840" y="18288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32520" y="2971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86"/>
                </a:solidFill>
              </a:rPr>
              <a:t>linker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0976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1938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Eseguibile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pronto all'esecuzione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 errori appartengono a fasi diverse: sapere che questi passaggi esistono aiuta a leggerli.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programma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272888" cy="1789176"/>
          </a:xfrm>
          <a:prstGeom prst="roundRect">
            <a:avLst>
              <a:gd name="adj" fmla="val 357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755648"/>
            <a:ext cx="5199736" cy="1752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"Ciao, mondo!\n"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72888" cy="2041652"/>
          </a:xfrm>
          <a:prstGeom prst="roundRect">
            <a:avLst>
              <a:gd name="adj" fmla="val 3135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1024" y="1755648"/>
            <a:ext cx="5199736" cy="20050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"Ciao, mondo!"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7607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 l'I/O passa da stdio.h e printf; in C++ da iostream e std::cout con l'operatore &lt;&lt;.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Compilare ed eseguire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logica per i due linguaggi, compilatore diverso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gcc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8" y="17373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6324448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g++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5272888" cy="1031748"/>
          </a:xfrm>
          <a:prstGeom prst="roundRect">
            <a:avLst>
              <a:gd name="adj" fmla="val 620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" y="2258568"/>
            <a:ext cx="5199736" cy="9951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Wextra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c11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2240280"/>
            <a:ext cx="5272888" cy="1031748"/>
          </a:xfrm>
          <a:prstGeom prst="roundRect">
            <a:avLst>
              <a:gd name="adj" fmla="val 620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1024" y="2258568"/>
            <a:ext cx="5199736" cy="9951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Wextra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-Wall -Wextra</a:t>
            </a:r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attivano gli avvisi del compilatore: per chi impara sono preziosi, perché segnalano errori logici che non bloccano la compilazione.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a confronto</a:t>
            </a:r>
            <a:endParaRPr lang="en-US" sz="3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10029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#include &lt;stdio.h&gt;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#include &lt;iostream&gt;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printf("%d\n", x);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std::cout &lt;&lt; x &lt;&lt; "\n";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scanf("%d", &amp;x);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std::cin &gt;&gt; x;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Stringhe di formato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(%d, %f, %c, %s)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operatori &lt;&lt; e &gt;&gt;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 di tipo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 a runtime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 a compile-time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 e tipi di dato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tipi fondamentali sono comuni a C e C++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29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 intero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eta = 30;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decimale a precisione singola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prezzo = 9.99f;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decimale a precisione doppia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pi = 3.14159;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singolo carattere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lettera = 'A';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vero/falso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 attivo = true;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0749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 esiste in più std::string, il tipo stringa nativo: niente più array di char gestiti a mano.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dell'utente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scanf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cin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272888" cy="1248156"/>
          </a:xfrm>
          <a:prstGeom prst="roundRect">
            <a:avLst>
              <a:gd name="adj" fmla="val 512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755648"/>
            <a:ext cx="5199736" cy="12115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"Quanti anni hai? 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 10 anni: 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72888" cy="1491615"/>
          </a:xfrm>
          <a:prstGeom prst="roundRect">
            <a:avLst>
              <a:gd name="adj" fmla="val 429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1024" y="1755648"/>
            <a:ext cx="5199736" cy="1455039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"Quanti anni hai? 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&gt;&gt;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 10 anni: 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&lt;&lt;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49377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simbolo &amp; in scanf indica dove salvare il valore: è un primo assaggio del concetto di puntatore (Giorno 3).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essenziali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Identici in C e C++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6675120" cy="1789176"/>
          </a:xfrm>
          <a:prstGeom prst="roundRect">
            <a:avLst>
              <a:gd name="adj" fmla="val 357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755648"/>
            <a:ext cx="6601968" cy="1752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   somma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  differenza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prodotto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  divisione INTERA (!)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  resto (modulo)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737360"/>
            <a:ext cx="4005072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classica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tra due int produce un int. Per ottenere 3.5 almeno uno dei due deve essere double: </a:t>
            </a:r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(double)a / b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dei tipi: una differenza già visibile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10029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 si può scrivere codice ambiguo che il compilatore accetta silenziosamente.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C++ è più severo sui tipi: molte conversioni richiedono un cast esplicito o danno errore.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principiante questo è un vantaggio: gli errori emergono prima, in fase di compilazione, invece che a runtime.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38404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rigore previene molti bug tipici del C.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— Giorno 1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Saluto personalizzato: stampa "Ciao, &lt;nome&gt;!".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Calcolatrice rettangolo: leggi base e altezza, stampa perimetro e area.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 temperature: Celsius → Fahrenheit (attenzione alla divisione intera).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di tre numeri interi, con due cifre decimali.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Scambio di valori tra due variabili con una terza temporanea.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Presentazione: chiedi nome ed età con cin e stampa una frase.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Concatenazione stringhe: costruisci "Cognome Nome" e stampane la lunghezza.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Calcolatrice interattiva: somma, differenza, prodotto e quoziente di due double.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Riscrivi in C++ la conversione Celsius → Fahrenheit.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Riga intera: leggi una frase con getline e stampa il numero di caratteri.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9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 di flusso, funzioni e dati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C: array e stringhe. In C++: funzioni avanzate, std::string e std::vector.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Strutture condizionali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e switch — identici in C e C++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0" cy="2221992"/>
          </a:xfrm>
          <a:prstGeom prst="roundRect">
            <a:avLst>
              <a:gd name="adj" fmla="val 28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755648"/>
            <a:ext cx="5413248" cy="21854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"Promosso!\n"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"Insufficiente.\n"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46520" y="1737360"/>
            <a:ext cx="5742432" cy="1978533"/>
          </a:xfrm>
          <a:prstGeom prst="roundRect">
            <a:avLst>
              <a:gd name="adj" fmla="val 3235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83096" y="1755648"/>
            <a:ext cx="5669280" cy="194195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giorno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"Lunedi\n"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"Martedi\n"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"Altro\n"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obbligatorio: evita il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"fall-through" al caso successivo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42519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Trappola: </a:t>
            </a:r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è assegnamento, == è confronto. Compilare con -Wall aiuta a individuare if (x = 5).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do-while — identici in C e C++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611880" cy="1212088"/>
          </a:xfrm>
          <a:prstGeom prst="roundRect">
            <a:avLst>
              <a:gd name="adj" fmla="val 52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755648"/>
            <a:ext cx="3538728" cy="11755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for: numero di iterazioni noto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 4 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737360"/>
            <a:ext cx="3611880" cy="1680972"/>
          </a:xfrm>
          <a:prstGeom prst="roundRect">
            <a:avLst>
              <a:gd name="adj" fmla="val 380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08576" y="1755648"/>
            <a:ext cx="3538728" cy="16443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while: comanda la condizione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9640" y="1737360"/>
            <a:ext cx="3639312" cy="1446530"/>
          </a:xfrm>
          <a:prstGeom prst="roundRect">
            <a:avLst>
              <a:gd name="adj" fmla="val 4425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86216" y="1755648"/>
            <a:ext cx="3566160" cy="140995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do-while: esegue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almeno una volta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in C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852160" cy="2952369"/>
          </a:xfrm>
          <a:prstGeom prst="roundRect">
            <a:avLst>
              <a:gd name="adj" fmla="val 216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5779008" cy="2915793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area_cerchio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 ritorna nulla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"Benvenuto!\n"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5010912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16459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parametri sono passati per valore: la funzione riceve una copia.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Modificarli dentro la funzione non cambia le variabili del chiamante.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modificare l'originale servono i puntatori (Giorno 3).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prototipi permettono di usare una funzione prima della sua definizione.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avanzate in C++ — Overloading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funzioni con lo stesso nome, se differiscono per parametri (impossibile in C)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2546604"/>
          </a:xfrm>
          <a:prstGeom prst="roundRect">
            <a:avLst>
              <a:gd name="adj" fmla="val 251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10929823" cy="25100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{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versione int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versione double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di default e passaggio per riferimento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di default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Passaggio per riferimento (&amp;)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272888" cy="1680972"/>
          </a:xfrm>
          <a:prstGeom prst="roundRect">
            <a:avLst>
              <a:gd name="adj" fmla="val 380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755648"/>
            <a:ext cx="5199736" cy="16443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"ospite"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"Ciao, 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Ciao, ospite!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"Anna"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Ciao, Anna!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72888" cy="1680972"/>
          </a:xfrm>
          <a:prstGeom prst="roundRect">
            <a:avLst>
              <a:gd name="adj" fmla="val 380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1024" y="1755648"/>
            <a:ext cx="5199736" cy="16443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raddoppia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 una copia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raddoppia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ora vale 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1148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x riceve una copia; int&amp; x lavora direttamente sulla variabile del chiamante. Anticipa "riferimenti vs puntatori" del Giorno 3.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 C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669280" cy="1735074"/>
          </a:xfrm>
          <a:prstGeom prst="roundRect">
            <a:avLst>
              <a:gd name="adj" fmla="val 3689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5596128" cy="169849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{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"numeri[%d] = 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193792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6459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indici partono da 0: il primo elemento è numeri[0].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dimensione è fissa e va conosciuta in anticipo.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 non controlla i limiti: numeri[10] non dà errore di compilazione ma è comportamento indefinito.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Stringhe in stile C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stringa è un array di char terminato dal carattere nullo '\0'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675120" cy="2221992"/>
          </a:xfrm>
          <a:prstGeom prst="roundRect">
            <a:avLst>
              <a:gd name="adj" fmla="val 28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6601968" cy="21854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"Mario"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"Lunghezza: %zu\n"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"Ciao, 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strcat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concatena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Ciao, Mario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4005072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0116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&lt;string.h&gt;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strlen, strcpy, strcat, strcmp.
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 tutto questo si fa con std::string, che gestisce lunghezza e memoria da sola.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std::string in profondità (C++)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6400800" cy="2708910"/>
          </a:xfrm>
          <a:prstGeom prst="roundRect">
            <a:avLst>
              <a:gd name="adj" fmla="val 236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6327648" cy="267233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"Programmazione"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"Progr"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'P'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C++"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concatenazione semplice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"C++"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!=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npos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"Contiene C++\n"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4462272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164592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 utili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length()/size(), substr(), find(), append(), empty(), at().
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 la memoria è gestita dall'oggetto: nessun '\0' da gestire, nessun rischio di sforare l'array.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 vs std::vector</a:t>
            </a:r>
            <a:endParaRPr lang="en-US" sz="3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 fissa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 dinamica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controllo sui limiti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.at() controlla i limiti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conosce la propria lunghezza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.size()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a carico del programmatore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gestita automaticamente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29400" y="1371600"/>
            <a:ext cx="5559552" cy="2149856"/>
          </a:xfrm>
          <a:prstGeom prst="roundRect">
            <a:avLst>
              <a:gd name="adj" fmla="val 2977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665976" y="1389888"/>
            <a:ext cx="5486400" cy="211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push_back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cresce a runtime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ciclo range-based (moderno)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 e passaggio const&amp;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pattern fondamentale: passare per riferimento costante (veloce e sicuro)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3051556"/>
          </a:xfrm>
          <a:prstGeom prst="roundRect">
            <a:avLst>
              <a:gd name="adj" fmla="val 209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10929823" cy="30149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niente copia (&amp;) e non modificabile (const)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&gt;&amp;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?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"Media: 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— Giorno 2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 o dispari: leggi un numero e usa l'operatore %.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Tabellina di un numero n da 1 a 10 con un ciclo for.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massimo(int a, int b) e usala nel main.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 di un array di 6 interi tramite funzione.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vocali in una parola (array di char).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e_primo(int n): stampa i primi da 2 a 50.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Overloading: due funzioni area (quadrato e rettangolo).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con riferimenti: void scambia(int&amp; a, int&amp; b).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lista: vector&lt;string&gt; con push_back e range-based for.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di un const vector&lt;int&gt;&amp; tramite funzione.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Manipolazione stringhe: stampa una parola al contrario.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Filtro pari: nuovo vector con i soli numeri pari.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9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TRASVERSALE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Differenze C vs C++ e casi d'uso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affrontare tra il Giorno 2 e il Giorno 3, con abbastanza codice già visto alle spalle.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storia condivisa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5272888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60120" y="30175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Ritchie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per scrivere UNIX. Procedurale, minimale, vicino all'hardware.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463040"/>
            <a:ext cx="5272888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0208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690208" y="30175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</a:t>
            </a:r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Bjarne Stroustrup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90208" y="361188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 con le classi": OOP e astrazione senza rinunciare alle prestazioni.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0292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C++ è stato progettato per essere largamente compatibile con il C: per questo si insegnano bene in parallelo.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riepilogativa</a:t>
            </a:r>
            <a:endParaRPr lang="en-US" sz="3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0297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multi-paradigma + OOP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manuale (malloc/free)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RAII, container, smart pointer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Stringhe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char[]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std::string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Collezioni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statici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 (vector, map, set…)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(fragili)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Eccezioni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/ catch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Sicurezza dei tipi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permissiva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rigorosa (più controlli)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usare C e quando usare C++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C quando…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C++ quando…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Servono controllo, semplicità e minimo ingombro.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operativi e kernel (Linux, UNIX).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embedded e microcontrollori.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 firmware.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 a basso livello richiamabili da altri linguaggi.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è grande e complesso ma le prestazioni restano critiche.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Videogiochi e motori grafici.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desktop ad alte prestazioni.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finanziari e trading ad alta frequenza.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scientifico, simulazioni, browser.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58521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 linguaggio "migliore" in assoluto: C e C++ risolvono problemi diversi e spesso coesistono.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9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e oggetti — le strade divergono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C: puntatori, malloc/free e struct. In C++: programmazione a oggetti, classi e RAII.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puntatori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puntatore è una variabile che contiene un indirizzo: "punta" a un'altra variabile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675120" cy="2221992"/>
          </a:xfrm>
          <a:prstGeom prst="roundRect">
            <a:avLst>
              <a:gd name="adj" fmla="val 28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6601968" cy="21854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&amp;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 contiene l'indirizzo di x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 (dereferenziazione)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modifico x ATTRAVERSO p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4005072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simboli da non confondere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&amp;x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"indirizzo di x"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"valore puntato da p"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Puntatori: a cosa servono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Permettere a una funzione di modificare le variabili del chiamante.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la memoria dinamica.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Lavorare in modo efficiente con array e strutture grandi, senza copiarle.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3200400"/>
            <a:ext cx="6675120" cy="1978533"/>
          </a:xfrm>
          <a:prstGeom prst="roundRect">
            <a:avLst>
              <a:gd name="adj" fmla="val 3235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3218688"/>
            <a:ext cx="6601968" cy="194195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raddoppia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riceve l'indirizzo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*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 l'originale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raddoppia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passo l'indirizzo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0" y="3200400"/>
            <a:ext cx="4005072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3429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esattamente ciò che in C++ si fa con i riferimenti (int&amp; n), in modo più leggibile.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Puntatori e array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nome di un array è l'indirizzo del suo primo elemento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1789176"/>
          </a:xfrm>
          <a:prstGeom prst="roundRect">
            <a:avLst>
              <a:gd name="adj" fmla="val 357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10929823" cy="1752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{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 punta a numeri[0]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*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*(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(aritmetica dei puntatori)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39319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numeri[i] è equivalente a *(numeri + i): un concetto che chiarisce molti comportamenti del linguaggio.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della memoria dinamica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6583680" cy="2618740"/>
          </a:xfrm>
          <a:prstGeom prst="roundRect">
            <a:avLst>
              <a:gd name="adj" fmla="val 244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6510528" cy="25821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 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controllo SEMPRE l'esito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libero la memoria: OBBLIGATORIO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79392" cy="310896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d'oro
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malloc deve corrispondere un free.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Dimenticare free causa un memory leak.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 o doppio free sono bug gravi.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struct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Raggruppano variabili di tipo diverso sotto un unico nome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6217920" cy="2618740"/>
          </a:xfrm>
          <a:prstGeom prst="roundRect">
            <a:avLst>
              <a:gd name="adj" fmla="val 244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755648"/>
            <a:ext cx="6144768" cy="25821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altezza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"Luca"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"%s, %d\n"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78040" y="1737360"/>
            <a:ext cx="5010912" cy="1680972"/>
          </a:xfrm>
          <a:prstGeom prst="roundRect">
            <a:avLst>
              <a:gd name="adj" fmla="val 380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14616" y="1755648"/>
            <a:ext cx="4937760" cy="16443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un puntatore a struct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 usa la freccia -&gt;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&amp;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equivale a (*ptr).nome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572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 è il precursore della classe del C++: stessi dati, ma senza metodi e senza incapsulamento.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a oggetti: i 4 pilastri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272888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4632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Incapsulamento
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Nascondere i dettagli interni ed esporre un'interfaccia.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324448" y="1371600"/>
            <a:ext cx="5272888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44488" y="1645920"/>
            <a:ext cx="4632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Astrazione
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Ragionare per concetti ("un'auto") anziché per dettagli.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337560"/>
            <a:ext cx="5272888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11880"/>
            <a:ext cx="4632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Ereditarietà
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nuove classi a partire da classi esistenti.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24448" y="3337560"/>
            <a:ext cx="5272888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4488" y="3611880"/>
            <a:ext cx="4632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Polimorfismo
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stesso comando, comportamenti diversi.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classe (C++)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6766560" cy="3087624"/>
          </a:xfrm>
          <a:prstGeom prst="roundRect">
            <a:avLst>
              <a:gd name="adj" fmla="val 207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6693408" cy="3051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 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dall'interno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  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interfaccia pubblica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4096512" cy="384048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6459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vs oggetto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è il progetto; l'oggetto è un esemplare concreto.
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L'incapsulamento (private/public) garantisce che i dati cambino solo tramite l'interfaccia esposta.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struct alla classe</a:t>
            </a:r>
            <a:endParaRPr lang="en-US" sz="3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297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 (C)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(C++)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dati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+ metodi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tutto pubblico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/ public / protected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costruttore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costruttori e distruttori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incapsulamento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incapsulamento integrato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50292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 anche struct può avere metodi; l'unica differenza tecnica è che struct ha i membri public di default.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Costruttori e distruttori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6766560" cy="3430270"/>
          </a:xfrm>
          <a:prstGeom prst="roundRect">
            <a:avLst>
              <a:gd name="adj" fmla="val 1866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6693408" cy="339369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{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"Risorsa acquisita\n"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"Risorsa rilasciata\n"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"Inizio\n"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costruttore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"Uso la risorsa\n"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                     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distruttore (fine scope)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"Fine\n"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4096512" cy="4114800"/>
          </a:xfrm>
          <a:prstGeom prst="roundRect">
            <a:avLst>
              <a:gd name="adj" fmla="val 1786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6459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Inizio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 acquisita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la risorsa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Risorsa rilasciata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RAII: il principio fondamentale del C++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Acquisition Is Initialization — la risorsa vive quanto l'oggetto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83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gestione manuale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8" y="178308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6324448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RAII automatico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5272888" cy="1212088"/>
          </a:xfrm>
          <a:prstGeom prst="roundRect">
            <a:avLst>
              <a:gd name="adj" fmla="val 52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" y="2304288"/>
            <a:ext cx="5199736" cy="11755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uso ... */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dimentico free → memory leak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4448" y="2286000"/>
            <a:ext cx="5272888" cy="1212088"/>
          </a:xfrm>
          <a:prstGeom prst="roundRect">
            <a:avLst>
              <a:gd name="adj" fmla="val 52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1024" y="2304288"/>
            <a:ext cx="5199736" cy="11755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uso ... */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il distruttore libera tutto, da solo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 moderno non si scrive quasi mai new/delete a mano: container e smart pointer applicano RAII al posto nostro.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Mini-esempio completo: un conto bancario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7315200" cy="4106545"/>
          </a:xfrm>
          <a:prstGeom prst="roundRect">
            <a:avLst>
              <a:gd name="adj" fmla="val 1559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7242048" cy="4069969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ContoBancario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titolare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ContoBancario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iniziale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titolare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iniziale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preleva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-=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importo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fondi insufficienti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0"/>
            <a:ext cx="3547872" cy="4297680"/>
          </a:xfrm>
          <a:prstGeom prst="roundRect">
            <a:avLst>
              <a:gd name="adj" fmla="val 2062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21040" y="16459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L'incapsulamento garantisce che il saldo possa cambiare solo attraverso deposita e preleva: non si può assegnare un valore arbitrario dall'esterno.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— Giorno 3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con puntatori: void scambia(int *a, int *b).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 max di un array scritti in variabili passate per puntatore.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dinamico: malloc, lettura valori, somma e free.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Rettangolo con funzione che calcola l'area.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Rubrica: array di 3 struct Persona, riempilo e stampalo.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Inversione array in-place usando solo puntatori.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Rettangolo con area() e perimetro().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struct a classe: trasforma Persona in una classe C++.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Costruttore e distruttore: classe Cronometro con messaggi.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Contatore incapsulato (mai sotto zero).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 bancario esteso con storico delle operazioni.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Frazione con metodo somma() e stampa().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9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File, progetti e librerie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C: file I/O, preprocessore, multi-file. In C++: STL, template, ereditarietà e cenni di Objective-C/C++.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Lavorare con i file (C)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272888" cy="1915414"/>
          </a:xfrm>
          <a:prstGeom prst="roundRect">
            <a:avLst>
              <a:gd name="adj" fmla="val 3342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755648"/>
            <a:ext cx="5199736" cy="187883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"dati.txt"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"Riga 1\n"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"Numero: %d\n"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SEMPRE chiudere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72888" cy="2149856"/>
          </a:xfrm>
          <a:prstGeom prst="roundRect">
            <a:avLst>
              <a:gd name="adj" fmla="val 2977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1024" y="1755648"/>
            <a:ext cx="5199736" cy="211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"dati.txt"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206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malloc/free, ogni fopen richiede un fclose. In C++ moderno gli stream (std::ofstream) automatizzano tutto con RAII.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di apertura dei file</a:t>
            </a:r>
            <a:endParaRPr lang="en-US" sz="33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29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lettura (il file deve esistere)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scrittura (crea / sovrascrive)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(aggiunge in coda)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"r+"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lettura e scrittura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preprocessore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 il codice prima della compilazione — direttive che iniziano con 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583680" cy="1491615"/>
          </a:xfrm>
          <a:prstGeom prst="roundRect">
            <a:avLst>
              <a:gd name="adj" fmla="val 429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6510528" cy="1455039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PI 3.14159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QUADRATO(x) ((x) * (x))   // macro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"%f\n"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((5)*(5)) = 25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79392" cy="2103120"/>
          </a:xfrm>
          <a:prstGeom prst="roundRect">
            <a:avLst>
              <a:gd name="adj" fmla="val 347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20116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parentesi salvano il risultato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Senza, QUADRATO(2+3) diventerebbe 2+3*2+3 = 11 invece di 25. Per questo in C++ si preferiscono const e funzioni inline alle macro.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Compilazione condizionale e include guard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Compilazione condizionale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guard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272888" cy="1491615"/>
          </a:xfrm>
          <a:prstGeom prst="roundRect">
            <a:avLst>
              <a:gd name="adj" fmla="val 429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755648"/>
            <a:ext cx="5199736" cy="1455039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DEBUG 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 DEBUG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"Modalita' debug attiva\n"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72888" cy="1735074"/>
          </a:xfrm>
          <a:prstGeom prst="roundRect">
            <a:avLst>
              <a:gd name="adj" fmla="val 3689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1024" y="1755648"/>
            <a:ext cx="5199736" cy="169849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MIO_HEADER_H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MIO_HEADER_H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contenuto dell'header */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4206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L'include guard evita che lo stesso header venga incluso più volte nello stesso file.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Progetti su più file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L'header dichiara cosa esiste; il .c definisce come funziona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657600" cy="1626870"/>
          </a:xfrm>
          <a:prstGeom prst="roundRect">
            <a:avLst>
              <a:gd name="adj" fmla="val 393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3584448" cy="159029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calcolatrice.h — l'interfaccia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CALCOLATRICE_H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CALCOLATRICE_H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sottrai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3657600" cy="1176020"/>
          </a:xfrm>
          <a:prstGeom prst="roundRect">
            <a:avLst>
              <a:gd name="adj" fmla="val 544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08576" y="1801368"/>
            <a:ext cx="3584448" cy="11394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calcolatrice.c — l'implementazione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"calcolatrice.h"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{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sottrai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49640" y="1783080"/>
            <a:ext cx="3639312" cy="1626870"/>
          </a:xfrm>
          <a:prstGeom prst="roundRect">
            <a:avLst>
              <a:gd name="adj" fmla="val 3934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86216" y="1801368"/>
            <a:ext cx="3566160" cy="159029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main.c — il programma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"calcolatrice.h"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11002975" cy="526796"/>
          </a:xfrm>
          <a:prstGeom prst="roundRect">
            <a:avLst>
              <a:gd name="adj" fmla="val 1215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" y="4178808"/>
            <a:ext cx="10929823" cy="4902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calcolatrice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Standard Template Library (STL)</a:t>
            </a:r>
            <a:endParaRPr lang="en-US" sz="33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cosa 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dinamico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std::string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coppie chiave → valore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insieme di elementi unici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371600"/>
            <a:ext cx="5742432" cy="1915414"/>
          </a:xfrm>
          <a:prstGeom prst="roundRect">
            <a:avLst>
              <a:gd name="adj" fmla="val 3342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83096" y="1389888"/>
            <a:ext cx="5669280" cy="187883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"Anna"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"Marco"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-&gt; 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4572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 raramente si reinventa la ruota: ordinamento, ricerca, conteggio esistono già nella STL.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della STL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11002975" cy="2546604"/>
          </a:xfrm>
          <a:prstGeom prst="roundRect">
            <a:avLst>
              <a:gd name="adj" fmla="val 251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801368"/>
            <a:ext cx="10929823" cy="25100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&lt;algorithm&gt;   // sort, find, max_element...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               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ordina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max_element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"Massimo: 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*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5 8 9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la programmazione generica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6766560" cy="2221992"/>
          </a:xfrm>
          <a:prstGeom prst="roundRect">
            <a:avLst>
              <a:gd name="adj" fmla="val 288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6693408" cy="21854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massimo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?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massimo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massimo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massimo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'z'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&lt;&lt; </a:t>
            </a:r>
            <a:pPr algn="l" indent="0" marL="0"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4096512" cy="310896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funzione massimo funziona per interi, decimali e caratteri. In C avremmo dovuto scrivere tre funzioni diverse (o usare macro fragili). È il meccanismo su cui è costruita tutta la STL.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Ereditarietà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classe può derivare da un'altra, ereditandone attributi e metodi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3322066"/>
          </a:xfrm>
          <a:prstGeom prst="roundRect">
            <a:avLst>
              <a:gd name="adj" fmla="val 1927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10929823" cy="328549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dorme.\n"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Cane "è un" Animale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abbaia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Bau!\n"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con metodi virtuali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7315200" cy="3520440"/>
          </a:xfrm>
          <a:prstGeom prst="roundRect">
            <a:avLst>
              <a:gd name="adj" fmla="val 1818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" y="1389888"/>
            <a:ext cx="7242048" cy="34838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 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metodo virtuale puro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~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{}          </a:t>
            </a:r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distruttore virtuale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Cerchio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Cerchio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raggio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raggio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Quadrato analogo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{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Cerchio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Quadrato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forme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&lt;&lt; 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versione giusta!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0"/>
            <a:ext cx="3547872" cy="4114800"/>
          </a:xfrm>
          <a:prstGeom prst="roundRect">
            <a:avLst>
              <a:gd name="adj" fmla="val 2062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21040" y="16459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comando (f-&gt;area()), comportamenti diversi a seconda dell'oggetto reale: questo è il polimorfismo.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Cenni di Objective-C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del C, linguaggio storico di Apple (pre-Swift, 2014). Oggi in gran parte legacy.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035040" cy="3655695"/>
          </a:xfrm>
          <a:prstGeom prst="roundRect">
            <a:avLst>
              <a:gd name="adj" fmla="val 175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5961888" cy="3619119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#import &lt;Foundation/Foundation.h&gt;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@interface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NSObject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@property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NSString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@implementation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(</a:t>
            </a:r>
            <a:pPr algn="l" indent="0" marL="0"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NSLog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@"Ciao, sono %@"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invio di un messaggio: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saluta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783080"/>
            <a:ext cx="4828032" cy="384048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205740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tipici
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#import invece di #include.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Stringhe letterali come @"testo" (NSString).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 a messaggi: [oggetto metodo].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@interface / @implementation separano dichiarazione e definizione.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Cenni di Objective-C++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linguaggio nuovo: una modalità per mescolare Objective-C e C++ nello stesso file (.mm)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766560" cy="2853182"/>
          </a:xfrm>
          <a:prstGeom prst="roundRect">
            <a:avLst>
              <a:gd name="adj" fmla="val 2243"/>
            </a:avLst>
          </a:prstGeom>
          <a:solidFill>
            <a:srgbClr val="2D2D2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1801368"/>
            <a:ext cx="6693408" cy="281660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file: misto.mm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algn="l"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#import &lt;Foundation/Foundation.h&gt;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algn="l"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&lt;vector&gt;          // C++ standard library!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@autoreleasepool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C++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NSLog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@"Numero: %d"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</a:t>
            </a:r>
            <a:pPr algn="l"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Objective-C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4096512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20574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
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 → Objective-C puro.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.mm → Objective-C++ (Obj-C + C++).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come ponte tra librerie C++ e codice Apple esistente.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— Giorno 4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8" y="12344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8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e rileggi: cinque numeri su file, poi stampane la somma.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righe di un file di testo.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MAX(a, b) (attenzione alle parentesi!).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multi-file: modulo geometria.h / geometria.c + main.c.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Mini rubrica su file (lista della spesa) con possibilità di azzerare.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4448" y="1737360"/>
            <a:ext cx="52728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parole: conta le occorrenze con map&lt;string,int&gt;.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e cerca: sort di un vector&lt;int&gt; e find di un valore.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minimo(T a, T b) provato con int, double e char.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Gerarchia di forme: base astratta Forma + Triangolo e Rettangolo.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Veicoli: classe base e derivate Auto e Moto con override.</a:t>
            </a:r>
            <a:endParaRPr lang="en-US" sz="1450" dirty="0"/>
          </a:p>
          <a:p>
            <a:pPr algn="l"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— Objective-C (su Mac): estendi Persona con eta, oppure discuti [p saluta] vs p.saluta().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esiste un linguaggio "migliore".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 C++ risolvono problemi diversi e spesso coesistono nello stesso progetto. Imparare entrambi rende programmatori più consapevoli e versatili.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C/C++ per Principianti · 16 ore · 4 giorni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e C++ — Corso per Principianti</dc:title>
  <dc:subject>PptxGenJS Presentation</dc:subject>
  <dc:creator>Corso C/C++</dc:creator>
  <cp:lastModifiedBy>Corso C/C++</cp:lastModifiedBy>
  <cp:revision>1</cp:revision>
  <dcterms:created xsi:type="dcterms:W3CDTF">2026-06-23T10:08:14Z</dcterms:created>
  <dcterms:modified xsi:type="dcterms:W3CDTF">2026-06-23T10:08:14Z</dcterms:modified>
</cp:coreProperties>
</file>